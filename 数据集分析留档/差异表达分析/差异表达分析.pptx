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7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e46e21d988a1bbca31c33eadc80ad0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0"/>
            <a:ext cx="446976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9450" y="6267450"/>
            <a:ext cx="1061085" cy="1765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30655" y="4870450"/>
            <a:ext cx="3060065" cy="1765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1f81532e4734dae156ea7f85b78d2c7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880" y="608330"/>
            <a:ext cx="1571625" cy="1333500"/>
          </a:xfrm>
          <a:prstGeom prst="rect">
            <a:avLst/>
          </a:prstGeom>
        </p:spPr>
      </p:pic>
      <p:pic>
        <p:nvPicPr>
          <p:cNvPr id="10" name="图片 9" descr="10c24deef78c1e6690f8eabe2b8dde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715" y="564515"/>
            <a:ext cx="4545965" cy="1485900"/>
          </a:xfrm>
          <a:prstGeom prst="rect">
            <a:avLst/>
          </a:prstGeom>
        </p:spPr>
      </p:pic>
      <p:pic>
        <p:nvPicPr>
          <p:cNvPr id="11" name="图片 10" descr="374d1c8048835abaf9f346c09ab6c3ab"/>
          <p:cNvPicPr>
            <a:picLocks noChangeAspect="1"/>
          </p:cNvPicPr>
          <p:nvPr/>
        </p:nvPicPr>
        <p:blipFill>
          <a:blip r:embed="rId5"/>
          <a:srcRect b="47950"/>
          <a:stretch>
            <a:fillRect/>
          </a:stretch>
        </p:blipFill>
        <p:spPr>
          <a:xfrm>
            <a:off x="5027930" y="2557780"/>
            <a:ext cx="6662420" cy="1370330"/>
          </a:xfrm>
          <a:prstGeom prst="rect">
            <a:avLst/>
          </a:prstGeom>
        </p:spPr>
      </p:pic>
      <p:pic>
        <p:nvPicPr>
          <p:cNvPr id="12" name="图片 11" descr="bc6c570e7ccb1c1c4ce559bbd489b284"/>
          <p:cNvPicPr>
            <a:picLocks noChangeAspect="1"/>
          </p:cNvPicPr>
          <p:nvPr/>
        </p:nvPicPr>
        <p:blipFill>
          <a:blip r:embed="rId6"/>
          <a:srcRect b="41732"/>
          <a:stretch>
            <a:fillRect/>
          </a:stretch>
        </p:blipFill>
        <p:spPr>
          <a:xfrm>
            <a:off x="5149215" y="4735195"/>
            <a:ext cx="2632710" cy="1456690"/>
          </a:xfrm>
          <a:prstGeom prst="rect">
            <a:avLst/>
          </a:prstGeom>
        </p:spPr>
      </p:pic>
      <p:sp>
        <p:nvSpPr>
          <p:cNvPr id="14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27930" y="2109470"/>
            <a:ext cx="2095500" cy="137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表达</a:t>
            </a:r>
            <a:r>
              <a:rPr lang="zh-CN" altLang="en-US"/>
              <a:t>矩阵</a:t>
            </a:r>
            <a:endParaRPr lang="zh-CN" altLang="en-US"/>
          </a:p>
        </p:txBody>
      </p:sp>
      <p:sp>
        <p:nvSpPr>
          <p:cNvPr id="15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048250" y="4268470"/>
            <a:ext cx="2468880" cy="137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基因名注释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16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862830" y="162560"/>
            <a:ext cx="2095500" cy="137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临床</a:t>
            </a:r>
            <a:r>
              <a:rPr lang="zh-CN" altLang="en-US"/>
              <a:t>信息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7" name="内容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096500" y="92710"/>
            <a:ext cx="2095500" cy="13798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分组信息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/>
          <p:nvPr>
            <p:ph idx="1"/>
            <p:custDataLst>
              <p:tags r:id="rId1"/>
            </p:custDataLst>
          </p:nvPr>
        </p:nvSpPr>
        <p:spPr>
          <a:xfrm>
            <a:off x="608330" y="973455"/>
            <a:ext cx="5985510" cy="3318510"/>
          </a:xfrm>
        </p:spPr>
        <p:txBody>
          <a:bodyPr/>
          <a:p>
            <a:pPr marL="0" indent="0">
              <a:buNone/>
            </a:pPr>
            <a:r>
              <a:rPr lang="zh-CN" altLang="en-US"/>
              <a:t>设置工作目录并加载包</a:t>
            </a:r>
            <a:endParaRPr lang="zh-CN" altLang="en-US"/>
          </a:p>
          <a:p>
            <a:r>
              <a:rPr lang="en-US" altLang="zh-CN"/>
              <a:t>tidyverse</a:t>
            </a:r>
            <a:r>
              <a:rPr lang="zh-CN" altLang="en-US"/>
              <a:t>包，用于数据清洗和转换</a:t>
            </a:r>
            <a:endParaRPr lang="zh-CN" altLang="en-US"/>
          </a:p>
          <a:p>
            <a:r>
              <a:rPr lang="en-US" altLang="zh-CN"/>
              <a:t>limma</a:t>
            </a:r>
            <a:r>
              <a:rPr lang="zh-CN" altLang="en-US"/>
              <a:t>包，用于进行差异表达分析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数据对数转换（如果最大值</a:t>
            </a:r>
            <a:r>
              <a:rPr lang="en-US" altLang="zh-CN"/>
              <a:t>&gt;15</a:t>
            </a:r>
            <a:r>
              <a:rPr lang="zh-CN" altLang="en-US"/>
              <a:t>则进行</a:t>
            </a:r>
            <a:r>
              <a:rPr lang="en-US" altLang="zh-CN"/>
              <a:t>log2</a:t>
            </a:r>
            <a:r>
              <a:rPr lang="zh-CN" altLang="en-US"/>
              <a:t>转换）</a:t>
            </a:r>
            <a:endParaRPr lang="zh-CN" altLang="en-US"/>
          </a:p>
        </p:txBody>
      </p:sp>
      <p:pic>
        <p:nvPicPr>
          <p:cNvPr id="5" name="图片 4" descr="bb5adde2db018d05466da0bb726815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" y="190500"/>
            <a:ext cx="3190875" cy="600075"/>
          </a:xfrm>
          <a:prstGeom prst="rect">
            <a:avLst/>
          </a:prstGeom>
        </p:spPr>
      </p:pic>
      <p:pic>
        <p:nvPicPr>
          <p:cNvPr id="6" name="图片 5" descr="7a997fcb486fceb1b5f8d380344d88f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" y="2527300"/>
            <a:ext cx="5600700" cy="2124075"/>
          </a:xfrm>
          <a:prstGeom prst="rect">
            <a:avLst/>
          </a:prstGeom>
        </p:spPr>
      </p:pic>
      <p:pic>
        <p:nvPicPr>
          <p:cNvPr id="8" name="图片 7" descr="d715d33b74bcab3c0f948e3cce048d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325" y="0"/>
            <a:ext cx="3264535" cy="3443605"/>
          </a:xfrm>
          <a:prstGeom prst="rect">
            <a:avLst/>
          </a:prstGeom>
        </p:spPr>
      </p:pic>
      <p:pic>
        <p:nvPicPr>
          <p:cNvPr id="9" name="图片 8" descr="e35831ba112d9735f86dfb62e49b508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740" y="3488055"/>
            <a:ext cx="3246120" cy="3346450"/>
          </a:xfrm>
          <a:prstGeom prst="rect">
            <a:avLst/>
          </a:prstGeom>
        </p:spPr>
      </p:pic>
      <p:sp>
        <p:nvSpPr>
          <p:cNvPr id="10" name="内容占位符 3"/>
          <p:cNvSpPr/>
          <p:nvPr>
            <p:custDataLst>
              <p:tags r:id="rId6"/>
            </p:custDataLst>
          </p:nvPr>
        </p:nvSpPr>
        <p:spPr>
          <a:xfrm>
            <a:off x="673735" y="4806315"/>
            <a:ext cx="598551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数据预处理</a:t>
            </a:r>
            <a:endParaRPr lang="zh-CN" altLang="en-US"/>
          </a:p>
          <a:p>
            <a:r>
              <a:rPr lang="zh-CN" altLang="en-US"/>
              <a:t>过滤低表达基因</a:t>
            </a:r>
            <a:endParaRPr lang="zh-CN" altLang="en-US"/>
          </a:p>
          <a:p>
            <a:r>
              <a:rPr lang="zh-CN" altLang="en-US"/>
              <a:t>数据对数转换（如果最大值</a:t>
            </a:r>
            <a:r>
              <a:rPr lang="en-US" altLang="zh-CN"/>
              <a:t>&gt;15</a:t>
            </a:r>
            <a:r>
              <a:rPr lang="zh-CN" altLang="en-US"/>
              <a:t>则进行</a:t>
            </a:r>
            <a:r>
              <a:rPr lang="en-US" altLang="zh-CN"/>
              <a:t>log2</a:t>
            </a:r>
            <a:r>
              <a:rPr lang="zh-CN" altLang="en-US"/>
              <a:t>转换）</a:t>
            </a:r>
            <a:endParaRPr lang="zh-CN" altLang="en-US"/>
          </a:p>
          <a:p>
            <a:r>
              <a:rPr lang="zh-CN" altLang="en-US"/>
              <a:t>标准化</a:t>
            </a:r>
            <a:r>
              <a:rPr lang="en-US" altLang="zh-CN"/>
              <a:t> </a:t>
            </a:r>
            <a:r>
              <a:rPr lang="zh-CN" altLang="en-US"/>
              <a:t>前后的箱线图对比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56210" y="4543425"/>
            <a:ext cx="8644255" cy="170624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/>
              <a:t>基因名转换</a:t>
            </a:r>
            <a:endParaRPr lang="zh-CN" altLang="en-US"/>
          </a:p>
          <a:p>
            <a:r>
              <a:rPr lang="zh-CN" altLang="en-US"/>
              <a:t>保留前一个基因</a:t>
            </a:r>
            <a:r>
              <a:rPr lang="zh-CN" altLang="en-US"/>
              <a:t>名</a:t>
            </a:r>
            <a:endParaRPr lang="zh-CN" altLang="en-US"/>
          </a:p>
          <a:p>
            <a:r>
              <a:rPr lang="zh-CN" altLang="en-US"/>
              <a:t>重复基因取</a:t>
            </a:r>
            <a:r>
              <a:rPr lang="zh-CN" altLang="en-US"/>
              <a:t>平均值</a:t>
            </a:r>
            <a:endParaRPr lang="zh-CN" altLang="en-US"/>
          </a:p>
          <a:p>
            <a:r>
              <a:rPr lang="zh-CN" altLang="en-US"/>
              <a:t>去除无效基因</a:t>
            </a:r>
            <a:r>
              <a:rPr lang="zh-CN" altLang="en-US"/>
              <a:t>名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 descr="a13c7a92fcdc7133f9a7e8a5dfc22a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" y="120015"/>
            <a:ext cx="9048750" cy="4257675"/>
          </a:xfrm>
          <a:prstGeom prst="rect">
            <a:avLst/>
          </a:prstGeom>
        </p:spPr>
      </p:pic>
      <p:pic>
        <p:nvPicPr>
          <p:cNvPr id="4" name="图片 3" descr="7af5c6f25c6f9f6bacd23202810098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855" y="1985010"/>
            <a:ext cx="2069465" cy="4491355"/>
          </a:xfrm>
          <a:prstGeom prst="rect">
            <a:avLst/>
          </a:prstGeom>
        </p:spPr>
      </p:pic>
      <p:pic>
        <p:nvPicPr>
          <p:cNvPr id="11" name="图片 10" descr="374d1c8048835abaf9f346c09ab6c3ab"/>
          <p:cNvPicPr>
            <a:picLocks noChangeAspect="1"/>
          </p:cNvPicPr>
          <p:nvPr/>
        </p:nvPicPr>
        <p:blipFill>
          <a:blip r:embed="rId5"/>
          <a:srcRect r="59226" b="47950"/>
          <a:stretch>
            <a:fillRect/>
          </a:stretch>
        </p:blipFill>
        <p:spPr>
          <a:xfrm>
            <a:off x="9032875" y="120015"/>
            <a:ext cx="2716530" cy="1370330"/>
          </a:xfrm>
          <a:prstGeom prst="rect">
            <a:avLst/>
          </a:prstGeom>
        </p:spPr>
      </p:pic>
      <p:pic>
        <p:nvPicPr>
          <p:cNvPr id="12" name="图片 11" descr="bc6c570e7ccb1c1c4ce559bbd489b284"/>
          <p:cNvPicPr>
            <a:picLocks noChangeAspect="1"/>
          </p:cNvPicPr>
          <p:nvPr/>
        </p:nvPicPr>
        <p:blipFill>
          <a:blip r:embed="rId6"/>
          <a:srcRect b="41732"/>
          <a:stretch>
            <a:fillRect/>
          </a:stretch>
        </p:blipFill>
        <p:spPr>
          <a:xfrm>
            <a:off x="6572250" y="4735195"/>
            <a:ext cx="2632710" cy="14566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d4f02ab83050b8b81e3ace694444b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" y="504190"/>
            <a:ext cx="5657850" cy="3505200"/>
          </a:xfrm>
          <a:prstGeom prst="rect">
            <a:avLst/>
          </a:prstGeom>
        </p:spPr>
      </p:pic>
      <p:pic>
        <p:nvPicPr>
          <p:cNvPr id="5" name="图片 4" descr="f3050b46605227ebf146ef2a4ef535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1848485"/>
            <a:ext cx="5400675" cy="20002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74015" y="4172585"/>
            <a:ext cx="8644255" cy="299148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差异表达分析</a:t>
            </a:r>
            <a:endParaRPr lang="zh-CN" altLang="en-US"/>
          </a:p>
          <a:p>
            <a:r>
              <a:rPr lang="en-US" altLang="zh-CN"/>
              <a:t>design &lt;- model.matrix(~group_list)  # </a:t>
            </a:r>
            <a:r>
              <a:rPr lang="zh-CN" altLang="en-US"/>
              <a:t>设计矩阵</a:t>
            </a:r>
            <a:endParaRPr lang="zh-CN" altLang="en-US"/>
          </a:p>
          <a:p>
            <a:r>
              <a:rPr lang="en-US" altLang="zh-CN"/>
              <a:t>con &lt;- lmFit(exp, design)            # </a:t>
            </a:r>
            <a:r>
              <a:rPr lang="zh-CN" altLang="en-US"/>
              <a:t>线性模型拟合</a:t>
            </a:r>
            <a:endParaRPr lang="zh-CN" altLang="en-US"/>
          </a:p>
          <a:p>
            <a:r>
              <a:rPr lang="en-US" altLang="zh-CN"/>
              <a:t>con2 &lt;- eBayes(con)                  # </a:t>
            </a:r>
            <a:r>
              <a:rPr lang="zh-CN" altLang="en-US"/>
              <a:t>经验贝叶斯调整</a:t>
            </a:r>
            <a:endParaRPr lang="zh-CN" altLang="en-US"/>
          </a:p>
          <a:p>
            <a:r>
              <a:rPr lang="en-US" altLang="zh-CN"/>
              <a:t>DEG1 &lt;- topTable(con2, coef = 2, number = Inf)  # </a:t>
            </a:r>
            <a:r>
              <a:rPr lang="zh-CN" altLang="en-US"/>
              <a:t>获取所有基因结果</a:t>
            </a:r>
            <a:endParaRPr lang="zh-CN" altLang="en-US"/>
          </a:p>
          <a:p>
            <a:r>
              <a:rPr lang="en-US" altLang="zh-CN"/>
              <a:t>DEG2 = na.omit(DEG1)  # </a:t>
            </a:r>
            <a:r>
              <a:rPr lang="zh-CN" altLang="en-US"/>
              <a:t>去除</a:t>
            </a:r>
            <a:r>
              <a:rPr lang="en-US" altLang="zh-CN"/>
              <a:t>NA</a:t>
            </a:r>
            <a:r>
              <a:rPr lang="zh-CN" altLang="en-US"/>
              <a:t>值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820baf222e98c4816d2e12f810d1c6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05" y="0"/>
            <a:ext cx="4785360" cy="4445635"/>
          </a:xfrm>
          <a:prstGeom prst="rect">
            <a:avLst/>
          </a:prstGeom>
        </p:spPr>
      </p:pic>
      <p:pic>
        <p:nvPicPr>
          <p:cNvPr id="5" name="图片 4" descr="b0b6b97eeaed445bdfaeeb6bc78de8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05" y="4445635"/>
            <a:ext cx="3726815" cy="2342515"/>
          </a:xfrm>
          <a:prstGeom prst="rect">
            <a:avLst/>
          </a:prstGeom>
        </p:spPr>
      </p:pic>
      <p:pic>
        <p:nvPicPr>
          <p:cNvPr id="6" name="图片 5" descr="b6148d0f44fb6c3e4f4c764ef17cf5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775" y="1288415"/>
            <a:ext cx="5375910" cy="42811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51180" y="431800"/>
            <a:ext cx="2279015" cy="8566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1180" y="1367790"/>
            <a:ext cx="3617595" cy="5162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51180" y="1905000"/>
            <a:ext cx="3944620" cy="577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1180" y="2503805"/>
            <a:ext cx="4488815" cy="8509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1180" y="3375660"/>
            <a:ext cx="2442210" cy="105537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1180" y="4488815"/>
            <a:ext cx="3617595" cy="20313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933065" y="307340"/>
            <a:ext cx="2259330" cy="543560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数据</a:t>
            </a:r>
            <a:r>
              <a:rPr lang="zh-CN" altLang="en-US">
                <a:solidFill>
                  <a:srgbClr val="FF0000"/>
                </a:solidFill>
              </a:rPr>
              <a:t>整理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035935" y="977900"/>
            <a:ext cx="2259330" cy="5435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统计上调下调</a:t>
            </a:r>
            <a:r>
              <a:rPr lang="zh-CN" altLang="en-US">
                <a:solidFill>
                  <a:srgbClr val="FF0000"/>
                </a:solidFill>
              </a:rPr>
              <a:t>个数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830195" y="2011045"/>
            <a:ext cx="2259330" cy="5435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设置颜色</a:t>
            </a:r>
            <a:r>
              <a:rPr lang="zh-CN" altLang="en-US">
                <a:solidFill>
                  <a:srgbClr val="FF0000"/>
                </a:solidFill>
              </a:rPr>
              <a:t>图例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043430" y="2622550"/>
            <a:ext cx="3319780" cy="5435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绘制火山图，添加阈值</a:t>
            </a:r>
            <a:r>
              <a:rPr lang="zh-CN" altLang="en-US">
                <a:solidFill>
                  <a:srgbClr val="FF0000"/>
                </a:solidFill>
              </a:rPr>
              <a:t>线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内容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230880" y="3714750"/>
            <a:ext cx="2259330" cy="5435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基因</a:t>
            </a:r>
            <a:r>
              <a:rPr lang="zh-CN" altLang="en-US">
                <a:solidFill>
                  <a:srgbClr val="FF0000"/>
                </a:solidFill>
              </a:rPr>
              <a:t>标注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内容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734310" y="4937760"/>
            <a:ext cx="2259330" cy="5435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设置标签</a:t>
            </a:r>
            <a:r>
              <a:rPr lang="zh-CN" altLang="en-US">
                <a:solidFill>
                  <a:srgbClr val="FF0000"/>
                </a:solidFill>
              </a:rPr>
              <a:t>名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WPS 演示</Application>
  <PresentationFormat>宽屏</PresentationFormat>
  <Paragraphs>48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之矢</cp:lastModifiedBy>
  <cp:revision>157</cp:revision>
  <dcterms:created xsi:type="dcterms:W3CDTF">2019-06-19T02:08:00Z</dcterms:created>
  <dcterms:modified xsi:type="dcterms:W3CDTF">2025-11-22T04:12:19Z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551E0D1E0D084FD793568F40D2CF9B06_11</vt:lpwstr>
  </property>
</Properties>
</file>